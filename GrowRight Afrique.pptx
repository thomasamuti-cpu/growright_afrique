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1"/>
  </p:notesMasterIdLst>
  <p:sldIdLst>
    <p:sldId id="257" r:id="rId2"/>
    <p:sldId id="258" r:id="rId3"/>
    <p:sldId id="259" r:id="rId4"/>
    <p:sldId id="260" r:id="rId5"/>
    <p:sldId id="287" r:id="rId6"/>
    <p:sldId id="261" r:id="rId7"/>
    <p:sldId id="262" r:id="rId8"/>
    <p:sldId id="263" r:id="rId9"/>
    <p:sldId id="264" r:id="rId10"/>
    <p:sldId id="286" r:id="rId11"/>
    <p:sldId id="288" r:id="rId12"/>
    <p:sldId id="267" r:id="rId13"/>
    <p:sldId id="268" r:id="rId14"/>
    <p:sldId id="299" r:id="rId15"/>
    <p:sldId id="291" r:id="rId16"/>
    <p:sldId id="292" r:id="rId17"/>
    <p:sldId id="294" r:id="rId18"/>
    <p:sldId id="301" r:id="rId19"/>
    <p:sldId id="306" r:id="rId20"/>
    <p:sldId id="300" r:id="rId21"/>
    <p:sldId id="302" r:id="rId22"/>
    <p:sldId id="303" r:id="rId23"/>
    <p:sldId id="279" r:id="rId24"/>
    <p:sldId id="304" r:id="rId25"/>
    <p:sldId id="305" r:id="rId26"/>
    <p:sldId id="282" r:id="rId27"/>
    <p:sldId id="283" r:id="rId28"/>
    <p:sldId id="284" r:id="rId29"/>
    <p:sldId id="28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0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9E3A37-4A2F-43D2-9E27-5A4CF81602FE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761C3E-845B-4123-94B9-3079DE3CCB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875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Current model mirrors that of Plant Village </a:t>
            </a:r>
            <a:r>
              <a:rPr lang="en-GB" dirty="0" err="1" smtClean="0"/>
              <a:t>Nuru</a:t>
            </a:r>
            <a:r>
              <a:rPr lang="en-GB" dirty="0" smtClean="0"/>
              <a:t>:</a:t>
            </a:r>
          </a:p>
          <a:p>
            <a:pPr lvl="1"/>
            <a:r>
              <a:rPr lang="en-GB" dirty="0" smtClean="0"/>
              <a:t>Use image classification to detect diseased crops.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61C3E-845B-4123-94B9-3079DE3CCB1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0506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Included: Crop type,</a:t>
            </a:r>
            <a:r>
              <a:rPr lang="en-GB" baseline="0" dirty="0" smtClean="0"/>
              <a:t> presence of erosion, surface crust, surface salt, coarse fragments, gravel, land slope, presence of bare soil.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61C3E-845B-4123-94B9-3079DE3CCB1B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044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Working with the above format is associated with the following:</a:t>
            </a:r>
          </a:p>
          <a:p>
            <a:r>
              <a:rPr lang="en-GB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Large file size overhead → Base64 encoding increases size by ~33%, making storage and transfer less efficient compared to normal image files</a:t>
            </a:r>
          </a:p>
          <a:p>
            <a:r>
              <a:rPr lang="en-GB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Memory usage → Entire image must be loaded into memory as a string before decoding, which can be heavy for large datasets or many images</a:t>
            </a:r>
          </a:p>
          <a:p>
            <a:r>
              <a:rPr lang="en-GB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Slower processing → Requires encoding/decoding steps, adding CPU overhead when reading or writing images</a:t>
            </a:r>
          </a:p>
          <a:p>
            <a:r>
              <a:rPr lang="en-GB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Harder to manage → Images are embedded in text, so you can’t easily preview, edit, or organize them like normal .</a:t>
            </a:r>
            <a:r>
              <a:rPr lang="en-GB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png</a:t>
            </a:r>
            <a:r>
              <a:rPr lang="en-GB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/.jpg files.</a:t>
            </a:r>
          </a:p>
          <a:p>
            <a:r>
              <a:rPr lang="en-GB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GB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Secondly, we noted by viewing the images that the vertical photos all have noise data including:</a:t>
            </a:r>
          </a:p>
          <a:p>
            <a:r>
              <a:rPr lang="en-GB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Hand tools used by the farmers.</a:t>
            </a:r>
          </a:p>
          <a:p>
            <a:r>
              <a:rPr lang="en-GB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Holes dug by the farmers.</a:t>
            </a:r>
          </a:p>
          <a:p>
            <a:r>
              <a:rPr lang="en-GB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en-GB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may lead to:</a:t>
            </a:r>
          </a:p>
          <a:p>
            <a:r>
              <a:rPr lang="en-GB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Spurious feature learning (shortcut bias) - The network may latch onto tools or hole shapes instead of soil properties. This is a classic case of models exploiting Spurious Correlation, where non-causal cues become predictive simply because they co-occur with labels.</a:t>
            </a:r>
          </a:p>
          <a:p>
            <a:r>
              <a:rPr lang="en-GB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Reduced generalization. If test images don’t contain tools/holes (or contain different ones), performance drops. The model hasn’t learned soil characteristics; it learned context </a:t>
            </a:r>
            <a:r>
              <a:rPr lang="en-GB" sz="1200" b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artifacts</a:t>
            </a:r>
            <a:r>
              <a:rPr lang="en-GB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761C3E-845B-4123-94B9-3079DE3CCB1B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4711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3F0EB0-E1B3-4161-AE47-6A97B3C44AA5}" type="datetimeFigureOut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29/04/2026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8E0CD-5B3E-4480-B69B-EB52D7644EB7}" type="slidenum">
              <a:rPr kumimoji="0" lang="en-GB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8186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3F0EB0-E1B3-4161-AE47-6A97B3C44AA5}" type="datetimeFigureOut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29/04/2026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8E0CD-5B3E-4480-B69B-EB52D7644EB7}" type="slidenum">
              <a:rPr kumimoji="0" lang="en-GB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837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3F0EB0-E1B3-4161-AE47-6A97B3C44AA5}" type="datetimeFigureOut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29/04/2026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8E0CD-5B3E-4480-B69B-EB52D7644EB7}" type="slidenum">
              <a:rPr kumimoji="0" lang="en-GB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6618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3F0EB0-E1B3-4161-AE47-6A97B3C44AA5}" type="datetimeFigureOut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29/04/2026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8E0CD-5B3E-4480-B69B-EB52D7644EB7}" type="slidenum">
              <a:rPr kumimoji="0" lang="en-GB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4802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3F0EB0-E1B3-4161-AE47-6A97B3C44AA5}" type="datetimeFigureOut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29/04/2026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8E0CD-5B3E-4480-B69B-EB52D7644EB7}" type="slidenum">
              <a:rPr kumimoji="0" lang="en-GB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0958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3F0EB0-E1B3-4161-AE47-6A97B3C44AA5}" type="datetimeFigureOut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29/04/2026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8E0CD-5B3E-4480-B69B-EB52D7644EB7}" type="slidenum">
              <a:rPr kumimoji="0" lang="en-GB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683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3F0EB0-E1B3-4161-AE47-6A97B3C44AA5}" type="datetimeFigureOut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29/04/2026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8E0CD-5B3E-4480-B69B-EB52D7644EB7}" type="slidenum">
              <a:rPr kumimoji="0" lang="en-GB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0439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3F0EB0-E1B3-4161-AE47-6A97B3C44AA5}" type="datetimeFigureOut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29/04/2026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0" i="0" u="none" strike="noStrike" kern="1200" cap="all" spc="0" normalizeH="0" baseline="0" noProof="0">
              <a:ln>
                <a:noFill/>
              </a:ln>
              <a:solidFill>
                <a:srgbClr val="63705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8E0CD-5B3E-4480-B69B-EB52D7644EB7}" type="slidenum">
              <a:rPr kumimoji="0" lang="en-GB" sz="1050" b="0" i="0" u="none" strike="noStrike" kern="1200" cap="none" spc="0" normalizeH="0" baseline="0" noProof="0" smtClean="0">
                <a:ln>
                  <a:noFill/>
                </a:ln>
                <a:solidFill>
                  <a:srgbClr val="63705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63705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787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3F0EB0-E1B3-4161-AE47-6A97B3C44AA5}" type="datetimeFigureOut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29/04/2026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8E0CD-5B3E-4480-B69B-EB52D7644EB7}" type="slidenum">
              <a:rPr kumimoji="0" lang="en-GB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6279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3F0EB0-E1B3-4161-AE47-6A97B3C44AA5}" type="datetimeFigureOut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29/04/2026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8E0CD-5B3E-4480-B69B-EB52D7644EB7}" type="slidenum">
              <a:rPr kumimoji="0" lang="en-GB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758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3F0EB0-E1B3-4161-AE47-6A97B3C44AA5}" type="datetimeFigureOut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29/04/2026</a:t>
            </a:fld>
            <a:endParaRPr kumimoji="0" lang="en-GB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900" b="0" i="0" u="none" strike="noStrike" kern="1200" cap="all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78E0CD-5B3E-4480-B69B-EB52D7644EB7}" type="slidenum">
              <a:rPr kumimoji="0" lang="en-GB" sz="105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0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229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E5A0EC-CB12-4A61-8750-F598E9887096}" type="datetimeFigureOut">
              <a:rPr lang="en-GB" smtClean="0"/>
              <a:t>29/04/2026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098174F7-0EB9-4ACC-A88C-EE9C5F1C0714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1137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6313" y="1993613"/>
            <a:ext cx="7772400" cy="1463040"/>
          </a:xfrm>
        </p:spPr>
        <p:txBody>
          <a:bodyPr>
            <a:noAutofit/>
          </a:bodyPr>
          <a:lstStyle/>
          <a:p>
            <a:r>
              <a:rPr lang="en-GB" sz="5400" dirty="0" err="1"/>
              <a:t>GrowRight</a:t>
            </a:r>
            <a:r>
              <a:rPr lang="en-GB" sz="5400" dirty="0"/>
              <a:t> </a:t>
            </a:r>
            <a:r>
              <a:rPr lang="en-GB" sz="5400" dirty="0" err="1"/>
              <a:t>Afrique</a:t>
            </a:r>
            <a:r>
              <a:rPr lang="en-GB" sz="5400" dirty="0"/>
              <a:t>: AI-Driven Crop &amp; Soil Intelligence System</a:t>
            </a:r>
          </a:p>
        </p:txBody>
      </p:sp>
      <p:pic>
        <p:nvPicPr>
          <p:cNvPr id="5" name="Picture 4" descr="Africa wildlife culture Royalty Free Vector Image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5847" y="4063058"/>
            <a:ext cx="5388553" cy="2983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2859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Members of Group </a:t>
            </a:r>
            <a:r>
              <a:rPr lang="en-GB" dirty="0" smtClean="0"/>
              <a:t>7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2118108"/>
            <a:ext cx="10058400" cy="4023360"/>
          </a:xfrm>
        </p:spPr>
        <p:txBody>
          <a:bodyPr/>
          <a:lstStyle/>
          <a:p>
            <a:pPr marL="0" indent="0" algn="ctr">
              <a:buNone/>
            </a:pPr>
            <a:r>
              <a:rPr lang="en-GB" dirty="0"/>
              <a:t>Faith </a:t>
            </a:r>
            <a:r>
              <a:rPr lang="en-GB" dirty="0" err="1"/>
              <a:t>Koech</a:t>
            </a:r>
            <a:endParaRPr lang="en-GB" dirty="0"/>
          </a:p>
          <a:p>
            <a:pPr marL="0" indent="0" algn="ctr">
              <a:buNone/>
            </a:pPr>
            <a:r>
              <a:rPr lang="en-GB" dirty="0"/>
              <a:t>Lucy </a:t>
            </a:r>
            <a:r>
              <a:rPr lang="en-GB" dirty="0" err="1"/>
              <a:t>Muchiri</a:t>
            </a:r>
            <a:endParaRPr lang="en-GB" dirty="0"/>
          </a:p>
          <a:p>
            <a:pPr marL="0" indent="0" algn="ctr">
              <a:buNone/>
            </a:pPr>
            <a:r>
              <a:rPr lang="en-GB" dirty="0"/>
              <a:t>Timothy </a:t>
            </a:r>
            <a:r>
              <a:rPr lang="en-GB" dirty="0" err="1"/>
              <a:t>Munene</a:t>
            </a:r>
            <a:endParaRPr lang="en-GB" dirty="0"/>
          </a:p>
          <a:p>
            <a:pPr marL="0" indent="0" algn="ctr">
              <a:buNone/>
            </a:pPr>
            <a:r>
              <a:rPr lang="en-GB" dirty="0" err="1"/>
              <a:t>Munene</a:t>
            </a:r>
            <a:r>
              <a:rPr lang="en-GB" dirty="0"/>
              <a:t> </a:t>
            </a:r>
            <a:r>
              <a:rPr lang="en-GB" dirty="0" err="1"/>
              <a:t>Gitonga</a:t>
            </a:r>
            <a:endParaRPr lang="en-GB" dirty="0"/>
          </a:p>
          <a:p>
            <a:pPr marL="0" indent="0" algn="ctr">
              <a:buNone/>
            </a:pPr>
            <a:r>
              <a:rPr lang="en-GB" dirty="0"/>
              <a:t>Isaac </a:t>
            </a:r>
            <a:r>
              <a:rPr lang="en-GB" dirty="0" err="1"/>
              <a:t>Macharia</a:t>
            </a:r>
            <a:endParaRPr lang="en-GB" dirty="0"/>
          </a:p>
          <a:p>
            <a:pPr marL="0" indent="0" algn="ctr">
              <a:buNone/>
            </a:pPr>
            <a:r>
              <a:rPr lang="en-GB" dirty="0"/>
              <a:t>Thomas </a:t>
            </a:r>
            <a:r>
              <a:rPr lang="en-GB" dirty="0" err="1"/>
              <a:t>Amuti</a:t>
            </a:r>
            <a:endParaRPr lang="en-GB" dirty="0"/>
          </a:p>
        </p:txBody>
      </p:sp>
      <p:pic>
        <p:nvPicPr>
          <p:cNvPr id="5" name="Picture 4" descr="Africa wildlife culture Royalty Free Vector Image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8402" y="0"/>
            <a:ext cx="2092903" cy="1158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3218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Project Overview</a:t>
            </a:r>
          </a:p>
          <a:p>
            <a:r>
              <a:rPr lang="en-GB" dirty="0"/>
              <a:t>Business Understanding: Business Problem and Objectives</a:t>
            </a:r>
          </a:p>
          <a:p>
            <a:r>
              <a:rPr lang="en-GB" dirty="0"/>
              <a:t>Data Understanding</a:t>
            </a:r>
          </a:p>
          <a:p>
            <a:r>
              <a:rPr lang="en-GB" dirty="0"/>
              <a:t>Data Preparation</a:t>
            </a:r>
          </a:p>
          <a:p>
            <a:r>
              <a:rPr lang="en-GB" dirty="0"/>
              <a:t>Results</a:t>
            </a:r>
          </a:p>
          <a:p>
            <a:r>
              <a:rPr lang="en-GB" dirty="0"/>
              <a:t>Recommendations</a:t>
            </a:r>
          </a:p>
          <a:p>
            <a:r>
              <a:rPr lang="en-GB" dirty="0"/>
              <a:t>Limitations and Suggestions for further studies</a:t>
            </a:r>
          </a:p>
          <a:p>
            <a:endParaRPr lang="en-GB" dirty="0"/>
          </a:p>
        </p:txBody>
      </p:sp>
      <p:pic>
        <p:nvPicPr>
          <p:cNvPr id="5" name="Picture 4" descr="Africa wildlife culture Royalty Free Vector Image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8402" y="0"/>
            <a:ext cx="2092903" cy="1158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2900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 Farmers struggle with crop yield prediction and fertilizer </a:t>
            </a:r>
            <a:r>
              <a:rPr lang="en-GB" dirty="0" smtClean="0"/>
              <a:t>selection.</a:t>
            </a:r>
          </a:p>
          <a:p>
            <a:pPr lvl="1"/>
            <a:r>
              <a:rPr lang="en-GB" dirty="0" smtClean="0"/>
              <a:t>Driven </a:t>
            </a:r>
            <a:r>
              <a:rPr lang="en-GB" dirty="0"/>
              <a:t>by climate change, soil degradation, and rising input </a:t>
            </a:r>
            <a:r>
              <a:rPr lang="en-GB" dirty="0" smtClean="0"/>
              <a:t>costs.</a:t>
            </a:r>
          </a:p>
          <a:p>
            <a:r>
              <a:rPr lang="en-GB" dirty="0" smtClean="0"/>
              <a:t>Current stages of soil prediction involves: Collection soil sample:</a:t>
            </a:r>
          </a:p>
          <a:p>
            <a:pPr lvl="1"/>
            <a:r>
              <a:rPr lang="en-GB" dirty="0" smtClean="0"/>
              <a:t>Assessment at KALRO (Kenya Agricultural and Livestock Research Organization).</a:t>
            </a:r>
          </a:p>
          <a:p>
            <a:pPr lvl="2"/>
            <a:r>
              <a:rPr lang="en-GB" dirty="0" smtClean="0"/>
              <a:t>With long waiting times – 3 weeks.</a:t>
            </a:r>
          </a:p>
          <a:p>
            <a:pPr lvl="1"/>
            <a:r>
              <a:rPr lang="en-GB" dirty="0" smtClean="0"/>
              <a:t>Local tools exist BUT rely </a:t>
            </a:r>
            <a:r>
              <a:rPr lang="en-GB" dirty="0"/>
              <a:t>heavily on </a:t>
            </a:r>
            <a:r>
              <a:rPr lang="en-GB" dirty="0" smtClean="0"/>
              <a:t>devices (</a:t>
            </a:r>
            <a:r>
              <a:rPr lang="en-GB" dirty="0" err="1" smtClean="0"/>
              <a:t>Soilpal</a:t>
            </a:r>
            <a:r>
              <a:rPr lang="en-GB" dirty="0" smtClean="0"/>
              <a:t>)</a:t>
            </a:r>
          </a:p>
          <a:p>
            <a:pPr lvl="2"/>
            <a:r>
              <a:rPr lang="en-GB" dirty="0" smtClean="0"/>
              <a:t>Limited </a:t>
            </a:r>
            <a:r>
              <a:rPr lang="en-GB" dirty="0"/>
              <a:t>accessibility for rural farmers with low </a:t>
            </a:r>
            <a:r>
              <a:rPr lang="en-GB" dirty="0" smtClean="0"/>
              <a:t>resources.</a:t>
            </a:r>
          </a:p>
        </p:txBody>
      </p:sp>
      <p:pic>
        <p:nvPicPr>
          <p:cNvPr id="7" name="Picture 6" descr="Africa wildlife culture Royalty Free Vector Image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8402" y="0"/>
            <a:ext cx="2092903" cy="1158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47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Project gap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Current tools depend on expensive chemical soil </a:t>
            </a:r>
            <a:r>
              <a:rPr lang="en-GB" dirty="0" smtClean="0"/>
              <a:t>analysis.</a:t>
            </a:r>
          </a:p>
          <a:p>
            <a:pPr lvl="1"/>
            <a:r>
              <a:rPr lang="en-GB" dirty="0" smtClean="0"/>
              <a:t>Lack </a:t>
            </a:r>
            <a:r>
              <a:rPr lang="en-GB" dirty="0"/>
              <a:t>of user-friendly AI tools for </a:t>
            </a:r>
            <a:r>
              <a:rPr lang="en-GB" dirty="0" smtClean="0"/>
              <a:t>farmers.</a:t>
            </a:r>
          </a:p>
          <a:p>
            <a:pPr lvl="1"/>
            <a:r>
              <a:rPr lang="en-GB" dirty="0" smtClean="0"/>
              <a:t>No </a:t>
            </a:r>
            <a:r>
              <a:rPr lang="en-GB" dirty="0"/>
              <a:t>strong image-based soil analysis systems widely </a:t>
            </a:r>
            <a:r>
              <a:rPr lang="en-GB" dirty="0" smtClean="0"/>
              <a:t>available.</a:t>
            </a:r>
          </a:p>
          <a:p>
            <a:r>
              <a:rPr lang="en-GB" dirty="0" smtClean="0"/>
              <a:t>We therefore:</a:t>
            </a:r>
          </a:p>
          <a:p>
            <a:pPr lvl="1"/>
            <a:r>
              <a:rPr lang="en-GB" dirty="0" smtClean="0"/>
              <a:t>Plan to leverage on the use of physical characteristics as well as soil images.</a:t>
            </a:r>
          </a:p>
          <a:p>
            <a:pPr lvl="2"/>
            <a:r>
              <a:rPr lang="en-GB" dirty="0" smtClean="0"/>
              <a:t>Easier for farmers to observe and don’t need instruments.</a:t>
            </a:r>
          </a:p>
          <a:p>
            <a:pPr lvl="1"/>
            <a:r>
              <a:rPr lang="en-GB" dirty="0" smtClean="0"/>
              <a:t>By developing AI algorithms and hosting on easy to access Websites</a:t>
            </a:r>
            <a:r>
              <a:rPr lang="en-GB" dirty="0"/>
              <a:t> </a:t>
            </a:r>
            <a:r>
              <a:rPr lang="en-GB" dirty="0" smtClean="0"/>
              <a:t>and phone apps.</a:t>
            </a:r>
          </a:p>
          <a:p>
            <a:pPr marL="457200" lvl="1" indent="0">
              <a:buNone/>
            </a:pPr>
            <a:endParaRPr lang="en-GB" dirty="0"/>
          </a:p>
        </p:txBody>
      </p:sp>
      <p:pic>
        <p:nvPicPr>
          <p:cNvPr id="4" name="Picture 3" descr="Africa wildlife culture Royalty Free Vector Image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8402" y="0"/>
            <a:ext cx="2092903" cy="1158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0359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Business </a:t>
            </a:r>
            <a:r>
              <a:rPr lang="en-GB" dirty="0" smtClean="0"/>
              <a:t>Questions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How </a:t>
            </a:r>
            <a:r>
              <a:rPr lang="en-GB" dirty="0"/>
              <a:t>effectively can crop type be predicted by combining soil images with field-observed physical soil </a:t>
            </a:r>
            <a:r>
              <a:rPr lang="en-GB" dirty="0" smtClean="0"/>
              <a:t>attributes?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 smtClean="0"/>
              <a:t>How </a:t>
            </a:r>
            <a:r>
              <a:rPr lang="en-GB" dirty="0"/>
              <a:t>accurately can crop type be predicted using field-observed physical soil indicators (erosion signs, slope characteristics, surface stones, and crust formation</a:t>
            </a:r>
            <a:r>
              <a:rPr lang="en-GB" dirty="0" smtClean="0"/>
              <a:t>)?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dirty="0" smtClean="0"/>
              <a:t>How </a:t>
            </a:r>
            <a:r>
              <a:rPr lang="en-GB" dirty="0"/>
              <a:t>accurately can crop type be predicted using soil </a:t>
            </a:r>
            <a:r>
              <a:rPr lang="en-GB" dirty="0" smtClean="0"/>
              <a:t>images?</a:t>
            </a:r>
          </a:p>
          <a:p>
            <a:pPr marL="800100" lvl="1" indent="-342900">
              <a:buFont typeface="+mj-lt"/>
              <a:buAutoNum type="arabicPeriod"/>
            </a:pPr>
            <a:endParaRPr lang="en-GB" dirty="0"/>
          </a:p>
          <a:p>
            <a:pPr marL="457200" lvl="1" indent="0">
              <a:buNone/>
            </a:pPr>
            <a:endParaRPr lang="en-GB" dirty="0" smtClean="0"/>
          </a:p>
        </p:txBody>
      </p:sp>
      <p:pic>
        <p:nvPicPr>
          <p:cNvPr id="5" name="Picture 4" descr="Africa wildlife culture Royalty Free Vector Image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8402" y="0"/>
            <a:ext cx="2092903" cy="1158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220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Stakeholders who may benefit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Local farmers </a:t>
            </a:r>
            <a:r>
              <a:rPr lang="en-GB" dirty="0" smtClean="0"/>
              <a:t>– to predict</a:t>
            </a:r>
            <a:r>
              <a:rPr lang="en-GB" dirty="0"/>
              <a:t>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GB" dirty="0"/>
              <a:t>Type of crop based on:</a:t>
            </a:r>
          </a:p>
          <a:p>
            <a:pPr lvl="2">
              <a:buFont typeface="Wingdings" panose="05000000000000000000" pitchFamily="2" charset="2"/>
              <a:buChar char="ü"/>
            </a:pPr>
            <a:r>
              <a:rPr lang="en-GB" dirty="0" smtClean="0"/>
              <a:t>Physical </a:t>
            </a:r>
            <a:r>
              <a:rPr lang="en-GB" dirty="0"/>
              <a:t>Soil Attributes: Erosion type, surface salt, surface crust, surface stone </a:t>
            </a:r>
            <a:r>
              <a:rPr lang="en-GB" dirty="0" err="1"/>
              <a:t>e.t.c</a:t>
            </a:r>
            <a:endParaRPr lang="en-GB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GB" dirty="0"/>
              <a:t>Type of </a:t>
            </a:r>
            <a:r>
              <a:rPr lang="en-GB" dirty="0" smtClean="0"/>
              <a:t>fertilizer </a:t>
            </a:r>
            <a:r>
              <a:rPr lang="en-GB" dirty="0"/>
              <a:t>to augment with: inorganic, crop residue, green manure, animal.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Ministry of agriculture – for fertilizer imports and location deployment.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GB" dirty="0"/>
              <a:t>Agricultural Food Authority – for yield predictions based on location.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 descr="Africa wildlife culture Royalty Free Vector Image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8402" y="0"/>
            <a:ext cx="2092903" cy="1158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7155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Data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 Dataset sourced from Soil4Africa (ISRIC platform</a:t>
            </a:r>
            <a:r>
              <a:rPr lang="en-GB" dirty="0" smtClean="0"/>
              <a:t>) with two </a:t>
            </a:r>
            <a:r>
              <a:rPr lang="en-GB" dirty="0"/>
              <a:t>datasets: </a:t>
            </a:r>
            <a:endParaRPr lang="en-GB" dirty="0" smtClean="0"/>
          </a:p>
          <a:p>
            <a:pPr lvl="1"/>
            <a:r>
              <a:rPr lang="en-GB" dirty="0" smtClean="0"/>
              <a:t>1</a:t>
            </a:r>
            <a:r>
              <a:rPr lang="en-GB" baseline="30000" dirty="0" smtClean="0"/>
              <a:t>st</a:t>
            </a:r>
            <a:r>
              <a:rPr lang="en-GB" dirty="0" smtClean="0"/>
              <a:t>: Contains Physical </a:t>
            </a:r>
            <a:r>
              <a:rPr lang="en-GB" dirty="0"/>
              <a:t>dataset </a:t>
            </a:r>
            <a:r>
              <a:rPr lang="en-GB" dirty="0" smtClean="0"/>
              <a:t>with </a:t>
            </a:r>
            <a:r>
              <a:rPr lang="en-GB" dirty="0"/>
              <a:t>54 features + crop type </a:t>
            </a:r>
            <a:r>
              <a:rPr lang="en-GB" dirty="0" smtClean="0"/>
              <a:t>target.</a:t>
            </a:r>
          </a:p>
          <a:p>
            <a:pPr lvl="1"/>
            <a:r>
              <a:rPr lang="en-GB" dirty="0" smtClean="0"/>
              <a:t>2</a:t>
            </a:r>
            <a:r>
              <a:rPr lang="en-GB" baseline="30000" dirty="0" smtClean="0"/>
              <a:t>nd</a:t>
            </a:r>
            <a:r>
              <a:rPr lang="en-GB" dirty="0" smtClean="0"/>
              <a:t>: Contains Image </a:t>
            </a:r>
            <a:r>
              <a:rPr lang="en-GB" dirty="0"/>
              <a:t>dataset </a:t>
            </a:r>
            <a:r>
              <a:rPr lang="en-GB" dirty="0" smtClean="0"/>
              <a:t>with soil photographs.</a:t>
            </a:r>
          </a:p>
          <a:p>
            <a:pPr lvl="2"/>
            <a:r>
              <a:rPr lang="en-GB" dirty="0" smtClean="0"/>
              <a:t>Data </a:t>
            </a:r>
            <a:r>
              <a:rPr lang="en-GB" dirty="0"/>
              <a:t>merged using common </a:t>
            </a:r>
            <a:r>
              <a:rPr lang="en-GB" dirty="0" err="1"/>
              <a:t>plot_code</a:t>
            </a:r>
            <a:r>
              <a:rPr lang="en-GB" dirty="0"/>
              <a:t> </a:t>
            </a:r>
            <a:r>
              <a:rPr lang="en-GB" dirty="0" smtClean="0"/>
              <a:t>identifier. </a:t>
            </a:r>
          </a:p>
          <a:p>
            <a:r>
              <a:rPr lang="en-GB" dirty="0" smtClean="0"/>
              <a:t>Target Variable: Crop type.</a:t>
            </a:r>
          </a:p>
          <a:p>
            <a:r>
              <a:rPr lang="en-GB" dirty="0" smtClean="0"/>
              <a:t>Feature Variables: 54 columns with features divided into: </a:t>
            </a:r>
            <a:r>
              <a:rPr lang="en-GB" dirty="0"/>
              <a:t>geographic, physical soil attributes, land management practices and grazing intensity </a:t>
            </a:r>
            <a:r>
              <a:rPr lang="en-GB" dirty="0" smtClean="0"/>
              <a:t>indicators.</a:t>
            </a:r>
          </a:p>
          <a:p>
            <a:pPr lvl="1"/>
            <a:r>
              <a:rPr lang="en-GB" dirty="0" smtClean="0"/>
              <a:t>We focused solely on the physical soil attributes.</a:t>
            </a:r>
            <a:endParaRPr lang="en-GB" dirty="0"/>
          </a:p>
          <a:p>
            <a:endParaRPr lang="en-GB" dirty="0" smtClean="0"/>
          </a:p>
          <a:p>
            <a:endParaRPr lang="en-GB" dirty="0" smtClean="0"/>
          </a:p>
          <a:p>
            <a:pPr lvl="1"/>
            <a:endParaRPr lang="en-GB" dirty="0"/>
          </a:p>
        </p:txBody>
      </p:sp>
      <p:pic>
        <p:nvPicPr>
          <p:cNvPr id="5" name="Picture 4" descr="Africa wildlife culture Royalty Free Vector Image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8402" y="0"/>
            <a:ext cx="2092903" cy="1158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9431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Libraries imported and </a:t>
            </a:r>
            <a:r>
              <a:rPr lang="en-GB" dirty="0"/>
              <a:t>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sz="2400" dirty="0"/>
              <a:t>We used several </a:t>
            </a:r>
            <a:r>
              <a:rPr lang="en-GB" sz="2400" dirty="0" smtClean="0"/>
              <a:t>libraries: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 smtClean="0"/>
              <a:t>Pandas</a:t>
            </a:r>
            <a:r>
              <a:rPr lang="en-GB" sz="2400" dirty="0"/>
              <a:t>, </a:t>
            </a:r>
            <a:r>
              <a:rPr lang="en-GB" sz="2400" dirty="0" err="1"/>
              <a:t>NumPy</a:t>
            </a:r>
            <a:r>
              <a:rPr lang="en-GB" sz="2400" dirty="0"/>
              <a:t> – Data cleaning &amp; numerical </a:t>
            </a:r>
            <a:r>
              <a:rPr lang="en-GB" sz="2400" dirty="0" smtClean="0"/>
              <a:t>processing.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 err="1" smtClean="0"/>
              <a:t>Matplotlib</a:t>
            </a:r>
            <a:r>
              <a:rPr lang="en-GB" sz="2400" dirty="0"/>
              <a:t>, </a:t>
            </a:r>
            <a:r>
              <a:rPr lang="en-GB" sz="2400" dirty="0" err="1"/>
              <a:t>Seaborn</a:t>
            </a:r>
            <a:r>
              <a:rPr lang="en-GB" sz="2400" dirty="0"/>
              <a:t> – Data visualization &amp; </a:t>
            </a:r>
            <a:r>
              <a:rPr lang="en-GB" sz="2400" dirty="0" smtClean="0"/>
              <a:t>insights.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 smtClean="0"/>
              <a:t>Base64</a:t>
            </a:r>
            <a:r>
              <a:rPr lang="en-GB" sz="2400" dirty="0"/>
              <a:t>, PIL, </a:t>
            </a:r>
            <a:r>
              <a:rPr lang="en-GB" sz="2400" dirty="0" err="1"/>
              <a:t>BytesIO</a:t>
            </a:r>
            <a:r>
              <a:rPr lang="en-GB" sz="2400" dirty="0"/>
              <a:t> – Image decoding &amp; </a:t>
            </a:r>
            <a:r>
              <a:rPr lang="en-GB" sz="2400" dirty="0" smtClean="0"/>
              <a:t>processing.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 err="1" smtClean="0"/>
              <a:t>Scikit</a:t>
            </a:r>
            <a:r>
              <a:rPr lang="en-GB" sz="2400" dirty="0" smtClean="0"/>
              <a:t>-learn </a:t>
            </a:r>
            <a:r>
              <a:rPr lang="en-GB" sz="2400" dirty="0"/>
              <a:t>– ML models, </a:t>
            </a:r>
            <a:r>
              <a:rPr lang="en-GB" sz="2400" dirty="0" err="1"/>
              <a:t>preprocessing</a:t>
            </a:r>
            <a:r>
              <a:rPr lang="en-GB" sz="2400" dirty="0"/>
              <a:t> &amp; </a:t>
            </a:r>
            <a:r>
              <a:rPr lang="en-GB" sz="2400" dirty="0" smtClean="0"/>
              <a:t>evaluation.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 err="1"/>
              <a:t>T</a:t>
            </a:r>
            <a:r>
              <a:rPr lang="en-GB" sz="2400" dirty="0" err="1" smtClean="0"/>
              <a:t>ensorFlow</a:t>
            </a:r>
            <a:r>
              <a:rPr lang="en-GB" sz="2400" dirty="0" smtClean="0"/>
              <a:t> </a:t>
            </a:r>
            <a:r>
              <a:rPr lang="en-GB" sz="2400" dirty="0"/>
              <a:t>/ </a:t>
            </a:r>
            <a:r>
              <a:rPr lang="en-GB" sz="2400" dirty="0" err="1"/>
              <a:t>Keras</a:t>
            </a:r>
            <a:r>
              <a:rPr lang="en-GB" sz="2400" dirty="0"/>
              <a:t> – Deep learning (CNN &amp; Neural Networks</a:t>
            </a:r>
            <a:r>
              <a:rPr lang="en-GB" sz="2400" dirty="0" smtClean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 err="1" smtClean="0"/>
              <a:t>Joblib</a:t>
            </a:r>
            <a:r>
              <a:rPr lang="en-GB" sz="2400" dirty="0"/>
              <a:t>, OS – Model saving &amp; </a:t>
            </a:r>
            <a:r>
              <a:rPr lang="en-GB" sz="2400" dirty="0" smtClean="0"/>
              <a:t>deployment.</a:t>
            </a:r>
            <a:endParaRPr lang="en-GB" sz="2400" dirty="0"/>
          </a:p>
        </p:txBody>
      </p:sp>
      <p:pic>
        <p:nvPicPr>
          <p:cNvPr id="6" name="Picture 5" descr="Africa wildlife culture Royalty Free Vector Image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8402" y="0"/>
            <a:ext cx="2092903" cy="1158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7478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Data cleaning – 1</a:t>
            </a:r>
            <a:r>
              <a:rPr lang="en-GB" baseline="30000" dirty="0" smtClean="0"/>
              <a:t>st</a:t>
            </a:r>
            <a:r>
              <a:rPr lang="en-GB" dirty="0" smtClean="0"/>
              <a:t> dataset on physical attributes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Started with 13876 entries with 55 columns:</a:t>
            </a:r>
          </a:p>
          <a:p>
            <a:r>
              <a:rPr lang="en-GB" dirty="0" smtClean="0"/>
              <a:t>Removed </a:t>
            </a:r>
            <a:r>
              <a:rPr lang="en-GB" dirty="0"/>
              <a:t>columns with high missing values (&gt;41</a:t>
            </a:r>
            <a:r>
              <a:rPr lang="en-GB" dirty="0" smtClean="0"/>
              <a:t>%).</a:t>
            </a:r>
          </a:p>
          <a:p>
            <a:pPr lvl="1"/>
            <a:r>
              <a:rPr lang="en-GB" dirty="0" smtClean="0"/>
              <a:t>With drop from 55 columns to 39.</a:t>
            </a:r>
          </a:p>
          <a:p>
            <a:r>
              <a:rPr lang="en-GB" dirty="0" smtClean="0"/>
              <a:t>Dropped redundant duplicate columns.</a:t>
            </a:r>
          </a:p>
          <a:p>
            <a:pPr lvl="1"/>
            <a:r>
              <a:rPr lang="en-GB" dirty="0" smtClean="0"/>
              <a:t>With drop from 39 columns to 37.</a:t>
            </a:r>
          </a:p>
          <a:p>
            <a:r>
              <a:rPr lang="en-GB" dirty="0" smtClean="0"/>
              <a:t>Removed </a:t>
            </a:r>
            <a:r>
              <a:rPr lang="en-GB" dirty="0"/>
              <a:t>remaining null </a:t>
            </a:r>
            <a:r>
              <a:rPr lang="en-GB" dirty="0" smtClean="0"/>
              <a:t>rows.</a:t>
            </a:r>
          </a:p>
          <a:p>
            <a:pPr lvl="1"/>
            <a:r>
              <a:rPr lang="en-GB" dirty="0" smtClean="0"/>
              <a:t>With drop of entries from 13876 to 2467.</a:t>
            </a:r>
          </a:p>
        </p:txBody>
      </p:sp>
      <p:pic>
        <p:nvPicPr>
          <p:cNvPr id="4" name="Picture 3" descr="Africa wildlife culture Royalty Free Vector Image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8402" y="0"/>
            <a:ext cx="2092903" cy="1158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1758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DATA CLEANING – 2</a:t>
            </a:r>
            <a:r>
              <a:rPr lang="en-GB" baseline="30000" dirty="0" smtClean="0"/>
              <a:t>nd</a:t>
            </a:r>
            <a:r>
              <a:rPr lang="en-GB" dirty="0" smtClean="0"/>
              <a:t> dataset on soil images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Scraped soil images using Selenium </a:t>
            </a:r>
            <a:r>
              <a:rPr lang="en-GB" dirty="0" smtClean="0"/>
              <a:t>automation.</a:t>
            </a:r>
          </a:p>
          <a:p>
            <a:r>
              <a:rPr lang="en-GB" dirty="0" smtClean="0"/>
              <a:t>Confirmed accurate loading of the images in base 64 format.</a:t>
            </a:r>
          </a:p>
          <a:p>
            <a:pPr lvl="1"/>
            <a:r>
              <a:rPr lang="en-GB" dirty="0" smtClean="0"/>
              <a:t>Had </a:t>
            </a:r>
            <a:r>
              <a:rPr lang="en-GB" dirty="0" err="1" smtClean="0"/>
              <a:t>horizontal_up</a:t>
            </a:r>
            <a:r>
              <a:rPr lang="en-GB" dirty="0" smtClean="0"/>
              <a:t>, </a:t>
            </a:r>
            <a:r>
              <a:rPr lang="en-GB" dirty="0" err="1" smtClean="0"/>
              <a:t>horizontal_down</a:t>
            </a:r>
            <a:r>
              <a:rPr lang="en-GB" dirty="0" smtClean="0"/>
              <a:t>, vertical photos.</a:t>
            </a:r>
            <a:endParaRPr lang="en-GB" dirty="0"/>
          </a:p>
          <a:p>
            <a:r>
              <a:rPr lang="en-GB" dirty="0" smtClean="0"/>
              <a:t>Filtered images and kept </a:t>
            </a:r>
            <a:r>
              <a:rPr lang="en-GB" dirty="0"/>
              <a:t>only “</a:t>
            </a:r>
            <a:r>
              <a:rPr lang="en-GB" dirty="0" err="1"/>
              <a:t>horizontal_up</a:t>
            </a:r>
            <a:r>
              <a:rPr lang="en-GB" dirty="0" smtClean="0"/>
              <a:t>”.</a:t>
            </a:r>
          </a:p>
          <a:p>
            <a:r>
              <a:rPr lang="en-GB" dirty="0" smtClean="0"/>
              <a:t>Decoded the images and converted them </a:t>
            </a:r>
            <a:r>
              <a:rPr lang="en-GB" dirty="0"/>
              <a:t>to </a:t>
            </a:r>
            <a:r>
              <a:rPr lang="en-GB" dirty="0" err="1"/>
              <a:t>numpy</a:t>
            </a:r>
            <a:r>
              <a:rPr lang="en-GB" dirty="0"/>
              <a:t> arrays for ML </a:t>
            </a:r>
            <a:r>
              <a:rPr lang="en-GB" dirty="0" smtClean="0"/>
              <a:t>modelling.</a:t>
            </a:r>
          </a:p>
          <a:p>
            <a:r>
              <a:rPr lang="en-GB" dirty="0" smtClean="0"/>
              <a:t>Dropped the </a:t>
            </a:r>
            <a:r>
              <a:rPr lang="en-GB" dirty="0" err="1" smtClean="0"/>
              <a:t>horizontal_up</a:t>
            </a:r>
            <a:r>
              <a:rPr lang="en-GB" dirty="0" smtClean="0"/>
              <a:t> base_64 columns.</a:t>
            </a:r>
          </a:p>
          <a:p>
            <a:r>
              <a:rPr lang="en-GB" dirty="0" smtClean="0"/>
              <a:t>Confirmed null missing and duplicated values.</a:t>
            </a:r>
            <a:endParaRPr lang="en-GB" dirty="0"/>
          </a:p>
        </p:txBody>
      </p:sp>
      <p:pic>
        <p:nvPicPr>
          <p:cNvPr id="4" name="Picture 3" descr="Africa wildlife culture Royalty Free Vector Image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097" y="4886914"/>
            <a:ext cx="2092903" cy="1158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346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Final Output from 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From the 1</a:t>
            </a:r>
            <a:r>
              <a:rPr lang="en-GB" baseline="30000" dirty="0" smtClean="0"/>
              <a:t>st</a:t>
            </a:r>
            <a:r>
              <a:rPr lang="en-GB" dirty="0" smtClean="0"/>
              <a:t> dataset on physical soil attributes:</a:t>
            </a:r>
          </a:p>
          <a:p>
            <a:pPr lvl="1"/>
            <a:r>
              <a:rPr lang="en-GB" dirty="0" smtClean="0"/>
              <a:t>2467 entries with 37 columns (including identifier: </a:t>
            </a:r>
            <a:r>
              <a:rPr lang="en-GB" dirty="0" err="1" smtClean="0"/>
              <a:t>plot_id</a:t>
            </a:r>
            <a:r>
              <a:rPr lang="en-GB" dirty="0" smtClean="0"/>
              <a:t>)</a:t>
            </a:r>
          </a:p>
          <a:p>
            <a:r>
              <a:rPr lang="en-GB" dirty="0" smtClean="0"/>
              <a:t>From the 2</a:t>
            </a:r>
            <a:r>
              <a:rPr lang="en-GB" baseline="30000" dirty="0" smtClean="0"/>
              <a:t>nd</a:t>
            </a:r>
            <a:r>
              <a:rPr lang="en-GB" dirty="0" smtClean="0"/>
              <a:t> dataset on soil images:</a:t>
            </a:r>
          </a:p>
          <a:p>
            <a:pPr lvl="1"/>
            <a:r>
              <a:rPr lang="en-GB" dirty="0" smtClean="0"/>
              <a:t>396 images with only </a:t>
            </a:r>
            <a:r>
              <a:rPr lang="en-GB" dirty="0" err="1" smtClean="0"/>
              <a:t>numpy</a:t>
            </a:r>
            <a:r>
              <a:rPr lang="en-GB" dirty="0" smtClean="0"/>
              <a:t> arrays of the </a:t>
            </a:r>
            <a:r>
              <a:rPr lang="en-GB" dirty="0" err="1" smtClean="0"/>
              <a:t>horizontal_up</a:t>
            </a:r>
            <a:r>
              <a:rPr lang="en-GB" dirty="0" smtClean="0"/>
              <a:t> photos and </a:t>
            </a:r>
            <a:r>
              <a:rPr lang="en-GB" dirty="0" err="1" smtClean="0"/>
              <a:t>plot_id</a:t>
            </a:r>
            <a:r>
              <a:rPr lang="en-GB" dirty="0" smtClean="0"/>
              <a:t> (identifier)</a:t>
            </a:r>
          </a:p>
          <a:p>
            <a:r>
              <a:rPr lang="en-GB" dirty="0" smtClean="0"/>
              <a:t>Concatenated the 2 dataset to have 1 unified Kenyan dataset for image classification:</a:t>
            </a:r>
          </a:p>
          <a:p>
            <a:pPr lvl="1"/>
            <a:r>
              <a:rPr lang="en-GB" dirty="0" smtClean="0"/>
              <a:t>87 entries with 38 columns.</a:t>
            </a:r>
            <a:endParaRPr lang="en-GB" dirty="0"/>
          </a:p>
        </p:txBody>
      </p:sp>
      <p:pic>
        <p:nvPicPr>
          <p:cNvPr id="5" name="Picture 4" descr="Africa wildlife culture Royalty Free Vector Image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097" y="4886914"/>
            <a:ext cx="2092903" cy="1158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1081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6679" y="1909419"/>
            <a:ext cx="9603275" cy="4815231"/>
          </a:xfrm>
        </p:spPr>
        <p:txBody>
          <a:bodyPr/>
          <a:lstStyle/>
          <a:p>
            <a:r>
              <a:rPr lang="en-GB" sz="6000" dirty="0"/>
              <a:t>Results</a:t>
            </a:r>
            <a:r>
              <a:rPr lang="en-GB" dirty="0"/>
              <a:t> </a:t>
            </a:r>
          </a:p>
        </p:txBody>
      </p:sp>
      <p:pic>
        <p:nvPicPr>
          <p:cNvPr id="6" name="Picture 5" descr="Africa wildlife culture Royalty Free Vector Image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097" y="4886914"/>
            <a:ext cx="2092903" cy="1158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The African Village Farming Cartoon Illustration - Stock Image &amp; Prompt ..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8485" y="3096372"/>
            <a:ext cx="2949403" cy="294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7592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CROP TYPE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95633" y="2035174"/>
            <a:ext cx="4915166" cy="4110577"/>
          </a:xfrm>
          <a:prstGeom prst="rect">
            <a:avLst/>
          </a:prstGeom>
        </p:spPr>
      </p:pic>
      <p:pic>
        <p:nvPicPr>
          <p:cNvPr id="5" name="Picture 4" descr="Africa wildlife culture Royalty Free Vector Image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097" y="4886914"/>
            <a:ext cx="2092903" cy="1158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1308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Coarse fragments abundance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2697" y="2016124"/>
            <a:ext cx="6501038" cy="4137025"/>
          </a:xfrm>
          <a:prstGeom prst="rect">
            <a:avLst/>
          </a:prstGeom>
        </p:spPr>
      </p:pic>
      <p:pic>
        <p:nvPicPr>
          <p:cNvPr id="5" name="Picture 4" descr="Africa wildlife culture Royalty Free Vector Image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097" y="4886914"/>
            <a:ext cx="2092903" cy="1158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256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Surface stone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9399" y="2054225"/>
            <a:ext cx="5927634" cy="4053246"/>
          </a:xfrm>
          <a:prstGeom prst="rect">
            <a:avLst/>
          </a:prstGeom>
        </p:spPr>
      </p:pic>
      <p:pic>
        <p:nvPicPr>
          <p:cNvPr id="5" name="Picture 4" descr="Africa wildlife culture Royalty Free Vector Image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097" y="4886914"/>
            <a:ext cx="2092903" cy="1158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824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SLOPE CLASS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6079" y="1939392"/>
            <a:ext cx="5674274" cy="4106383"/>
          </a:xfrm>
          <a:prstGeom prst="rect">
            <a:avLst/>
          </a:prstGeom>
        </p:spPr>
      </p:pic>
      <p:pic>
        <p:nvPicPr>
          <p:cNvPr id="5" name="Picture 4" descr="Africa wildlife culture Royalty Free Vector Image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097" y="4886914"/>
            <a:ext cx="2092903" cy="1158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1729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Life forms</a:t>
            </a:r>
            <a:endParaRPr lang="en-GB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90280" y="2016124"/>
            <a:ext cx="5829969" cy="4082877"/>
          </a:xfrm>
          <a:prstGeom prst="rect">
            <a:avLst/>
          </a:prstGeom>
        </p:spPr>
      </p:pic>
      <p:pic>
        <p:nvPicPr>
          <p:cNvPr id="5" name="Picture 4" descr="Africa wildlife culture Royalty Free Vector Image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097" y="4886914"/>
            <a:ext cx="2092903" cy="1158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8329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Most land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Had:</a:t>
            </a:r>
          </a:p>
          <a:p>
            <a:pPr lvl="1"/>
            <a:r>
              <a:rPr lang="en-GB" dirty="0" smtClean="0"/>
              <a:t>No signs of erosion.</a:t>
            </a:r>
          </a:p>
          <a:p>
            <a:pPr lvl="1"/>
            <a:r>
              <a:rPr lang="en-GB" dirty="0" smtClean="0"/>
              <a:t>No surface crust.</a:t>
            </a:r>
          </a:p>
          <a:p>
            <a:pPr lvl="1"/>
            <a:r>
              <a:rPr lang="en-GB" dirty="0" smtClean="0"/>
              <a:t>No surface stone</a:t>
            </a:r>
          </a:p>
          <a:p>
            <a:pPr lvl="1"/>
            <a:r>
              <a:rPr lang="en-GB" dirty="0" smtClean="0"/>
              <a:t>No Bare soil.</a:t>
            </a:r>
          </a:p>
          <a:p>
            <a:pPr lvl="1"/>
            <a:endParaRPr lang="en-GB" dirty="0"/>
          </a:p>
          <a:p>
            <a:r>
              <a:rPr lang="en-GB" dirty="0" smtClean="0"/>
              <a:t>Was level land and sloping land. </a:t>
            </a:r>
            <a:r>
              <a:rPr lang="en-GB" dirty="0"/>
              <a:t> </a:t>
            </a:r>
            <a:r>
              <a:rPr lang="en-GB" dirty="0" smtClean="0"/>
              <a:t>Very few was steep land. </a:t>
            </a:r>
          </a:p>
        </p:txBody>
      </p:sp>
    </p:spTree>
    <p:extLst>
      <p:ext uri="{BB962C8B-B14F-4D97-AF65-F5344CB8AC3E}">
        <p14:creationId xmlns:p14="http://schemas.microsoft.com/office/powerpoint/2010/main" val="1415850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Determining which physical attributes predicted crop type better.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Vegetation factors dominate crop prediction </a:t>
            </a:r>
            <a:r>
              <a:rPr lang="en-GB" b="1" dirty="0" smtClean="0"/>
              <a:t>accuracy.</a:t>
            </a:r>
          </a:p>
          <a:p>
            <a:pPr lvl="1"/>
            <a:r>
              <a:rPr lang="en-GB" dirty="0" smtClean="0"/>
              <a:t>Herbaceous </a:t>
            </a:r>
            <a:r>
              <a:rPr lang="en-GB" dirty="0"/>
              <a:t>(Non-</a:t>
            </a:r>
            <a:r>
              <a:rPr lang="en-GB" dirty="0" err="1"/>
              <a:t>Graminoids</a:t>
            </a:r>
            <a:r>
              <a:rPr lang="en-GB" dirty="0"/>
              <a:t>) – 0.79 (strongest predictor</a:t>
            </a:r>
            <a:r>
              <a:rPr lang="en-GB" dirty="0" smtClean="0"/>
              <a:t>)</a:t>
            </a:r>
          </a:p>
          <a:p>
            <a:pPr lvl="1"/>
            <a:r>
              <a:rPr lang="en-GB" dirty="0" smtClean="0"/>
              <a:t>Tree-based </a:t>
            </a:r>
            <a:r>
              <a:rPr lang="en-GB" dirty="0"/>
              <a:t>vegetation – </a:t>
            </a:r>
            <a:r>
              <a:rPr lang="en-GB" dirty="0" smtClean="0"/>
              <a:t>0.73</a:t>
            </a:r>
          </a:p>
          <a:p>
            <a:pPr lvl="1"/>
            <a:r>
              <a:rPr lang="en-GB" dirty="0" smtClean="0"/>
              <a:t>Vines </a:t>
            </a:r>
            <a:r>
              <a:rPr lang="en-GB" dirty="0"/>
              <a:t>presence – </a:t>
            </a:r>
            <a:r>
              <a:rPr lang="en-GB" dirty="0" smtClean="0"/>
              <a:t>0.71</a:t>
            </a:r>
          </a:p>
          <a:p>
            <a:pPr lvl="1"/>
            <a:r>
              <a:rPr lang="en-GB" dirty="0" smtClean="0"/>
              <a:t>Shrub </a:t>
            </a:r>
            <a:r>
              <a:rPr lang="en-GB" dirty="0"/>
              <a:t>vegetation – </a:t>
            </a:r>
            <a:r>
              <a:rPr lang="en-GB" dirty="0" smtClean="0"/>
              <a:t>0.65</a:t>
            </a:r>
          </a:p>
          <a:p>
            <a:r>
              <a:rPr lang="en-GB" dirty="0" smtClean="0"/>
              <a:t>Flooded </a:t>
            </a:r>
            <a:r>
              <a:rPr lang="en-GB" dirty="0"/>
              <a:t>/ aquatic cultivated land – </a:t>
            </a:r>
            <a:r>
              <a:rPr lang="en-GB" dirty="0" smtClean="0"/>
              <a:t>0.50</a:t>
            </a:r>
          </a:p>
        </p:txBody>
      </p:sp>
      <p:pic>
        <p:nvPicPr>
          <p:cNvPr id="6" name="Picture 5" descr="Africa wildlife culture Royalty Free Vector Image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097" y="4886914"/>
            <a:ext cx="2092903" cy="1158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3799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Determining the relation between physical attributes and crops grown.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Most crops require cultivated land with no erosion, salt, crust, or bare </a:t>
            </a:r>
            <a:r>
              <a:rPr lang="en-GB" dirty="0" smtClean="0"/>
              <a:t>soil</a:t>
            </a:r>
          </a:p>
          <a:p>
            <a:pPr lvl="1"/>
            <a:r>
              <a:rPr lang="en-GB" dirty="0" smtClean="0"/>
              <a:t>Cereals</a:t>
            </a:r>
            <a:r>
              <a:rPr lang="en-GB" dirty="0"/>
              <a:t>, Vegetables, Rubber → Flatland crops (flat terrain, fine gravel</a:t>
            </a:r>
            <a:r>
              <a:rPr lang="en-GB" dirty="0" smtClean="0"/>
              <a:t>)</a:t>
            </a:r>
          </a:p>
          <a:p>
            <a:pPr lvl="1"/>
            <a:r>
              <a:rPr lang="en-GB" dirty="0" smtClean="0"/>
              <a:t>Fodder </a:t>
            </a:r>
            <a:r>
              <a:rPr lang="en-GB" dirty="0"/>
              <a:t>plants → Flatland + flood-prone areas (high water </a:t>
            </a:r>
            <a:r>
              <a:rPr lang="en-GB" dirty="0" smtClean="0"/>
              <a:t>association)</a:t>
            </a:r>
          </a:p>
          <a:p>
            <a:pPr lvl="1"/>
            <a:r>
              <a:rPr lang="en-GB" dirty="0" smtClean="0"/>
              <a:t>Fruits</a:t>
            </a:r>
            <a:r>
              <a:rPr lang="en-GB" dirty="0"/>
              <a:t>, Fibre, </a:t>
            </a:r>
            <a:r>
              <a:rPr lang="en-GB" dirty="0" smtClean="0"/>
              <a:t>Oil-crops, Pulses → Gentle slope crops (tree-linked systems)</a:t>
            </a:r>
          </a:p>
          <a:p>
            <a:pPr lvl="1"/>
            <a:r>
              <a:rPr lang="en-GB" dirty="0" smtClean="0"/>
              <a:t>Roots </a:t>
            </a:r>
            <a:r>
              <a:rPr lang="en-GB" dirty="0"/>
              <a:t>&amp; Tubers → Irregular crops (sloped land, irregular field patterns</a:t>
            </a:r>
            <a:r>
              <a:rPr lang="en-GB" dirty="0" smtClean="0"/>
              <a:t>)</a:t>
            </a:r>
          </a:p>
          <a:p>
            <a:pPr lvl="1"/>
            <a:r>
              <a:rPr lang="en-GB" dirty="0" smtClean="0"/>
              <a:t>Semi-luxury </a:t>
            </a:r>
            <a:r>
              <a:rPr lang="en-GB" dirty="0"/>
              <a:t>&amp; Nursery crops → Special cases (tree/shrub systems or coarse, sloping, fragmented land)</a:t>
            </a:r>
          </a:p>
        </p:txBody>
      </p:sp>
      <p:pic>
        <p:nvPicPr>
          <p:cNvPr id="4" name="Picture 3" descr="Africa wildlife culture Royalty Free Vector Image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097" y="4886914"/>
            <a:ext cx="2092903" cy="1158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2664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Determining the relation </a:t>
            </a:r>
            <a:r>
              <a:rPr lang="en-GB" dirty="0" smtClean="0"/>
              <a:t>between fertilizer option and </a:t>
            </a:r>
            <a:r>
              <a:rPr lang="en-GB" dirty="0"/>
              <a:t>crops grown.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Cereals: </a:t>
            </a:r>
            <a:r>
              <a:rPr lang="en-GB" dirty="0"/>
              <a:t>Crop residue + inorganic </a:t>
            </a:r>
            <a:r>
              <a:rPr lang="en-GB" dirty="0" smtClean="0"/>
              <a:t>fertilizer.</a:t>
            </a:r>
          </a:p>
          <a:p>
            <a:r>
              <a:rPr lang="en-GB" b="1" dirty="0" smtClean="0"/>
              <a:t>Fibre </a:t>
            </a:r>
            <a:r>
              <a:rPr lang="en-GB" b="1" dirty="0"/>
              <a:t>crops</a:t>
            </a:r>
            <a:r>
              <a:rPr lang="en-GB" dirty="0"/>
              <a:t>: Mainly inorganic </a:t>
            </a:r>
            <a:r>
              <a:rPr lang="en-GB" dirty="0" smtClean="0"/>
              <a:t>fertilizer.</a:t>
            </a:r>
          </a:p>
          <a:p>
            <a:r>
              <a:rPr lang="en-GB" b="1" dirty="0" smtClean="0"/>
              <a:t>Fodder </a:t>
            </a:r>
            <a:r>
              <a:rPr lang="en-GB" b="1" dirty="0"/>
              <a:t>plants</a:t>
            </a:r>
            <a:r>
              <a:rPr lang="en-GB" dirty="0"/>
              <a:t>: Crop residue or inorganic </a:t>
            </a:r>
            <a:r>
              <a:rPr lang="en-GB" dirty="0" smtClean="0"/>
              <a:t>fertilizer.</a:t>
            </a:r>
          </a:p>
          <a:p>
            <a:r>
              <a:rPr lang="en-GB" b="1" dirty="0" smtClean="0"/>
              <a:t>Fruits</a:t>
            </a:r>
            <a:r>
              <a:rPr lang="en-GB" b="1" dirty="0"/>
              <a:t>: </a:t>
            </a:r>
            <a:r>
              <a:rPr lang="en-GB" dirty="0"/>
              <a:t>Crop residue + animal manure (secondary</a:t>
            </a:r>
            <a:r>
              <a:rPr lang="en-GB" dirty="0" smtClean="0"/>
              <a:t>).</a:t>
            </a:r>
          </a:p>
          <a:p>
            <a:r>
              <a:rPr lang="en-GB" b="1" dirty="0" smtClean="0"/>
              <a:t>Oil-crops </a:t>
            </a:r>
            <a:r>
              <a:rPr lang="en-GB" b="1" dirty="0"/>
              <a:t>&amp; Roots/Tubers</a:t>
            </a:r>
            <a:r>
              <a:rPr lang="en-GB" dirty="0"/>
              <a:t>: Mainly crop </a:t>
            </a:r>
            <a:r>
              <a:rPr lang="en-GB" dirty="0" smtClean="0"/>
              <a:t>residue.</a:t>
            </a:r>
          </a:p>
          <a:p>
            <a:r>
              <a:rPr lang="en-GB" b="1" dirty="0" smtClean="0"/>
              <a:t>Vegetables </a:t>
            </a:r>
            <a:r>
              <a:rPr lang="en-GB" b="1" dirty="0"/>
              <a:t>&amp; Semi-luxury crops: </a:t>
            </a:r>
            <a:r>
              <a:rPr lang="en-GB" dirty="0"/>
              <a:t>Mixed use of inorganic fertilizer, manure, and crop </a:t>
            </a:r>
            <a:r>
              <a:rPr lang="en-GB" dirty="0" smtClean="0"/>
              <a:t>residue.</a:t>
            </a:r>
            <a:endParaRPr lang="en-GB" dirty="0"/>
          </a:p>
        </p:txBody>
      </p:sp>
      <p:pic>
        <p:nvPicPr>
          <p:cNvPr id="5" name="Picture 4" descr="Africa wildlife culture Royalty Free Vector Image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097" y="4886914"/>
            <a:ext cx="2092903" cy="1158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6401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7" y="804519"/>
            <a:ext cx="9603275" cy="1049235"/>
          </a:xfrm>
        </p:spPr>
        <p:txBody>
          <a:bodyPr/>
          <a:lstStyle/>
          <a:p>
            <a:pPr algn="ctr"/>
            <a:r>
              <a:rPr lang="en-GB" dirty="0" smtClean="0"/>
              <a:t>Modelling – PHYSICAL ATTRIBUTES</a:t>
            </a:r>
            <a:endParaRPr lang="en-GB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1559" y="1853754"/>
            <a:ext cx="6983313" cy="4277136"/>
          </a:xfrm>
        </p:spPr>
      </p:pic>
      <p:pic>
        <p:nvPicPr>
          <p:cNvPr id="7" name="Picture 6" descr="Africa wildlife culture Royalty Free Vector Image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097" y="170275"/>
            <a:ext cx="2092903" cy="1158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2427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Modelling – SOIL IMAGES CLASSIFICATION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We used a Convolutional Neural Network with:</a:t>
            </a:r>
          </a:p>
          <a:p>
            <a:pPr lvl="1"/>
            <a:r>
              <a:rPr lang="en-GB" dirty="0" smtClean="0"/>
              <a:t>Accuracy – 91% </a:t>
            </a:r>
          </a:p>
          <a:p>
            <a:pPr lvl="1"/>
            <a:r>
              <a:rPr lang="en-GB" dirty="0" smtClean="0"/>
              <a:t>Validation Accuracy – 81%.</a:t>
            </a:r>
            <a:endParaRPr lang="en-GB" dirty="0"/>
          </a:p>
        </p:txBody>
      </p:sp>
      <p:pic>
        <p:nvPicPr>
          <p:cNvPr id="5" name="Picture 4" descr="Africa wildlife culture Royalty Free Vector Image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2046" y="170275"/>
            <a:ext cx="1859954" cy="102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8346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5400" dirty="0"/>
              <a:t>DASHBOARD TUTORIAL</a:t>
            </a:r>
          </a:p>
        </p:txBody>
      </p:sp>
      <p:pic>
        <p:nvPicPr>
          <p:cNvPr id="4" name="Picture 3" descr="Africa wildlife culture Royalty Free Vector Image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097" y="170275"/>
            <a:ext cx="2092903" cy="1158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9317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Courier New" panose="02070309020205020404" pitchFamily="49" charset="0"/>
              <a:buChar char="o"/>
            </a:pPr>
            <a:r>
              <a:rPr lang="en-GB" dirty="0" smtClean="0"/>
              <a:t>Despite the general recommendations, use </a:t>
            </a:r>
            <a:r>
              <a:rPr lang="en-GB" dirty="0"/>
              <a:t>AI models for crop </a:t>
            </a:r>
            <a:r>
              <a:rPr lang="en-GB" dirty="0" smtClean="0"/>
              <a:t>prediction.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dirty="0" smtClean="0"/>
              <a:t>Crop </a:t>
            </a:r>
            <a:r>
              <a:rPr lang="en-GB" dirty="0"/>
              <a:t>choice depends on multiple soil factors, so machine learning models should guide decisions</a:t>
            </a:r>
            <a:r>
              <a:rPr lang="en-GB" dirty="0" smtClean="0"/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GB" dirty="0" smtClean="0"/>
              <a:t>Promote </a:t>
            </a:r>
            <a:r>
              <a:rPr lang="en-GB" dirty="0"/>
              <a:t>crop residue as the main </a:t>
            </a:r>
            <a:r>
              <a:rPr lang="en-GB" dirty="0" smtClean="0"/>
              <a:t>fertilizer.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dirty="0" smtClean="0"/>
              <a:t>Most </a:t>
            </a:r>
            <a:r>
              <a:rPr lang="en-GB" dirty="0"/>
              <a:t>crops perform best with crop residue, often combined with inorganic fertilizer.</a:t>
            </a:r>
          </a:p>
        </p:txBody>
      </p:sp>
      <p:pic>
        <p:nvPicPr>
          <p:cNvPr id="6" name="Picture 5" descr="Africa wildlife culture Royalty Free Vector Image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097" y="170275"/>
            <a:ext cx="2092903" cy="1158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2331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Limitations of the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Small image dataset (only 87 usable Kenyan soil images</a:t>
            </a:r>
            <a:r>
              <a:rPr lang="en-GB" dirty="0" smtClean="0"/>
              <a:t>).</a:t>
            </a:r>
          </a:p>
          <a:p>
            <a:pPr lvl="1"/>
            <a:r>
              <a:rPr lang="en-GB" dirty="0" smtClean="0"/>
              <a:t>Limited data for soil image classification + </a:t>
            </a:r>
            <a:r>
              <a:rPr lang="en-GB" dirty="0"/>
              <a:t>reduced diversity but CNN </a:t>
            </a:r>
            <a:r>
              <a:rPr lang="en-GB" dirty="0" smtClean="0"/>
              <a:t>performed well.</a:t>
            </a:r>
          </a:p>
          <a:p>
            <a:r>
              <a:rPr lang="en-GB" dirty="0" smtClean="0"/>
              <a:t>Severe </a:t>
            </a:r>
            <a:r>
              <a:rPr lang="en-GB" dirty="0"/>
              <a:t>class imbalance across crop types affected </a:t>
            </a:r>
            <a:r>
              <a:rPr lang="en-GB" dirty="0" smtClean="0"/>
              <a:t>modelling for physical attributes.</a:t>
            </a:r>
          </a:p>
          <a:p>
            <a:r>
              <a:rPr lang="en-GB" dirty="0" smtClean="0"/>
              <a:t>Vertical </a:t>
            </a:r>
            <a:r>
              <a:rPr lang="en-GB" dirty="0"/>
              <a:t>images contained noise (tools, holes, hands</a:t>
            </a:r>
            <a:r>
              <a:rPr lang="en-GB" dirty="0" smtClean="0"/>
              <a:t>) limiting use.</a:t>
            </a:r>
          </a:p>
          <a:p>
            <a:r>
              <a:rPr lang="en-GB" dirty="0" smtClean="0"/>
              <a:t>Fertilizer </a:t>
            </a:r>
            <a:r>
              <a:rPr lang="en-GB" dirty="0"/>
              <a:t>recommendations </a:t>
            </a:r>
            <a:r>
              <a:rPr lang="en-GB" dirty="0" smtClean="0"/>
              <a:t>are made based </a:t>
            </a:r>
            <a:r>
              <a:rPr lang="en-GB" dirty="0"/>
              <a:t>on usage, not yield or soil health</a:t>
            </a:r>
          </a:p>
        </p:txBody>
      </p:sp>
      <p:pic>
        <p:nvPicPr>
          <p:cNvPr id="5" name="Picture 4" descr="Africa wildlife culture Royalty Free Vector Image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097" y="170275"/>
            <a:ext cx="2092903" cy="1158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3955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Suggestions for further studies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Expand dataset with more soil images across African </a:t>
            </a:r>
            <a:r>
              <a:rPr lang="en-GB" dirty="0" smtClean="0"/>
              <a:t>countries.</a:t>
            </a:r>
          </a:p>
          <a:p>
            <a:endParaRPr lang="en-GB" dirty="0" smtClean="0"/>
          </a:p>
          <a:p>
            <a:pPr lvl="1"/>
            <a:r>
              <a:rPr lang="en-GB" dirty="0" smtClean="0"/>
              <a:t>Include </a:t>
            </a:r>
            <a:r>
              <a:rPr lang="en-GB" dirty="0"/>
              <a:t>different climates, seasons, and farming </a:t>
            </a:r>
            <a:r>
              <a:rPr lang="en-GB" dirty="0" smtClean="0"/>
              <a:t>conditions.</a:t>
            </a:r>
          </a:p>
          <a:p>
            <a:pPr lvl="1"/>
            <a:endParaRPr lang="en-GB" dirty="0" smtClean="0"/>
          </a:p>
          <a:p>
            <a:pPr lvl="1"/>
            <a:r>
              <a:rPr lang="en-GB" dirty="0" smtClean="0"/>
              <a:t>Incorporate </a:t>
            </a:r>
            <a:r>
              <a:rPr lang="en-GB" dirty="0"/>
              <a:t>crop yield and crop health </a:t>
            </a:r>
            <a:r>
              <a:rPr lang="en-GB" dirty="0" smtClean="0"/>
              <a:t>data.</a:t>
            </a:r>
          </a:p>
          <a:p>
            <a:endParaRPr lang="en-GB" dirty="0"/>
          </a:p>
        </p:txBody>
      </p:sp>
      <p:pic>
        <p:nvPicPr>
          <p:cNvPr id="5" name="Picture 4" descr="Africa wildlife culture Royalty Free Vector Image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097" y="170275"/>
            <a:ext cx="2092903" cy="1158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55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8327" y="0"/>
            <a:ext cx="7535105" cy="2153145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endParaRPr lang="en-GB" sz="6000" dirty="0"/>
          </a:p>
          <a:p>
            <a:pPr marL="0" indent="0" algn="ctr">
              <a:buNone/>
            </a:pPr>
            <a:r>
              <a:rPr lang="en-GB" sz="6000" dirty="0"/>
              <a:t>Thank you</a:t>
            </a:r>
          </a:p>
        </p:txBody>
      </p:sp>
      <p:pic>
        <p:nvPicPr>
          <p:cNvPr id="5" name="Picture 2" descr="The African Village Farming Cartoon Illustration - Stock Image &amp; Prompt ...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6EE7CB"/>
              </a:clrFrom>
              <a:clrTo>
                <a:srgbClr val="6EE7C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544" y="1956500"/>
            <a:ext cx="4174670" cy="4174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3706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1266</Words>
  <Application>Microsoft Office PowerPoint</Application>
  <PresentationFormat>Widescreen</PresentationFormat>
  <Paragraphs>160</Paragraphs>
  <Slides>29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Courier New</vt:lpstr>
      <vt:lpstr>Gill Sans MT</vt:lpstr>
      <vt:lpstr>Wingdings</vt:lpstr>
      <vt:lpstr>Gallery</vt:lpstr>
      <vt:lpstr>GrowRight Afrique: AI-Driven Crop &amp; Soil Intelligence System</vt:lpstr>
      <vt:lpstr>Members of Group 7</vt:lpstr>
      <vt:lpstr>Highlights</vt:lpstr>
      <vt:lpstr>Project Overview</vt:lpstr>
      <vt:lpstr>Project gap</vt:lpstr>
      <vt:lpstr>Business Questions</vt:lpstr>
      <vt:lpstr>Stakeholders who may benefit</vt:lpstr>
      <vt:lpstr>Data Understanding</vt:lpstr>
      <vt:lpstr>Libraries imported and used</vt:lpstr>
      <vt:lpstr>Data cleaning – 1st dataset on physical attributes</vt:lpstr>
      <vt:lpstr>DATA CLEANING – 2nd dataset on soil images</vt:lpstr>
      <vt:lpstr>Final Output from Data Cleaning</vt:lpstr>
      <vt:lpstr>Results </vt:lpstr>
      <vt:lpstr>CROP TYPE</vt:lpstr>
      <vt:lpstr>Coarse fragments abundance</vt:lpstr>
      <vt:lpstr>Surface stone</vt:lpstr>
      <vt:lpstr>SLOPE CLASS</vt:lpstr>
      <vt:lpstr>Life forms</vt:lpstr>
      <vt:lpstr>Most land</vt:lpstr>
      <vt:lpstr>Determining which physical attributes predicted crop type better.</vt:lpstr>
      <vt:lpstr>Determining the relation between physical attributes and crops grown.</vt:lpstr>
      <vt:lpstr>Determining the relation between fertilizer option and crops grown.</vt:lpstr>
      <vt:lpstr>Modelling – PHYSICAL ATTRIBUTES</vt:lpstr>
      <vt:lpstr>Modelling – SOIL IMAGES CLASSIFICATION</vt:lpstr>
      <vt:lpstr>PowerPoint Presentation</vt:lpstr>
      <vt:lpstr>Recommendations</vt:lpstr>
      <vt:lpstr>Limitations of the dataset</vt:lpstr>
      <vt:lpstr>Suggestions for further studies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27</cp:revision>
  <dcterms:created xsi:type="dcterms:W3CDTF">2026-04-27T14:14:10Z</dcterms:created>
  <dcterms:modified xsi:type="dcterms:W3CDTF">2026-04-29T18:22:47Z</dcterms:modified>
</cp:coreProperties>
</file>